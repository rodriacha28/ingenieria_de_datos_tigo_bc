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Inscripciones por semestre (estable)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Inscripciones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2022-1</c:v>
                </c:pt>
                <c:pt idx="1">
                  <c:v>2022-2</c:v>
                </c:pt>
                <c:pt idx="2">
                  <c:v>2023-1</c:v>
                </c:pt>
                <c:pt idx="3">
                  <c:v>2023-2</c:v>
                </c:pt>
                <c:pt idx="4">
                  <c:v>2024-1</c:v>
                </c:pt>
                <c:pt idx="5">
                  <c:v>2024-2</c:v>
                </c:pt>
                <c:pt idx="6">
                  <c:v>2025-1</c:v>
                </c:pt>
                <c:pt idx="7">
                  <c:v>2025-2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3164</c:v>
                </c:pt>
                <c:pt idx="1">
                  <c:v>3199</c:v>
                </c:pt>
                <c:pt idx="2">
                  <c:v>3143</c:v>
                </c:pt>
                <c:pt idx="3">
                  <c:v>3014</c:v>
                </c:pt>
                <c:pt idx="4">
                  <c:v>3076</c:v>
                </c:pt>
                <c:pt idx="5">
                  <c:v>3108</c:v>
                </c:pt>
                <c:pt idx="6">
                  <c:v>3110</c:v>
                </c:pt>
                <c:pt idx="7">
                  <c:v>3186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04-4435-97C1-276DDC5BCB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Revenue por segmento de cliente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D355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Retail</c:v>
                </c:pt>
                <c:pt idx="1">
                  <c:v>SMB</c:v>
                </c:pt>
                <c:pt idx="2">
                  <c:v>Enterprise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4700000</c:v>
                </c:pt>
                <c:pt idx="1">
                  <c:v>1500000</c:v>
                </c:pt>
                <c:pt idx="2">
                  <c:v>500000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05-4140-9698-B257EE3B3A1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Win rate: 61.1%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Win rate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F8E-444B-BA51-61A15F6EA8D1}"/>
              </c:ext>
            </c:extLst>
          </c:dPt>
          <c:dPt>
            <c:idx val="1"/>
            <c:bubble3D val="0"/>
            <c:spPr>
              <a:solidFill>
                <a:srgbClr val="E76F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F8E-444B-BA51-61A15F6EA8D1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F8E-444B-BA51-61A15F6EA8D1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F8E-444B-BA51-61A15F6EA8D1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Ganadas (476)</c:v>
                </c:pt>
                <c:pt idx="1">
                  <c:v>Perdidas (303)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476</c:v>
                </c:pt>
                <c:pt idx="1">
                  <c:v>303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F8E-444B-BA51-61A15F6EA8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Pipeline abierto por etapa (millones USD)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Pipeline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Qualification</c:v>
                </c:pt>
                <c:pt idx="1">
                  <c:v>Prospect</c:v>
                </c:pt>
                <c:pt idx="2">
                  <c:v>Proposal</c:v>
                </c:pt>
                <c:pt idx="3">
                  <c:v>Negotiation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23.04</c:v>
                </c:pt>
                <c:pt idx="1">
                  <c:v>22.83</c:v>
                </c:pt>
                <c:pt idx="2">
                  <c:v>22.22</c:v>
                </c:pt>
                <c:pt idx="3">
                  <c:v>15.37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2B-41CF-8871-7E7CF98491D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1972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 Ingeniería de Datos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+ Billing + Universidad — de datos crudos a insights de negocio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evaluación — Bootcamp de Ingeniería de Datos – Rodrigo David De Achá Beltran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57D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del proyecto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6280" y="240030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un pipeline de datos de extremo a extremo que transforme datos crudos de tres sistemas de negocio distintos en información accionable para la toma de decisiones.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79120" y="41148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énfasis no está solo en que el pipeline funcione, sino en el criterio detrás de cada decisión: qué se limpió, qué se descartó, qué se dejó documentado y por qué.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06640" y="182880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F1F3F5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06640" y="1965960"/>
            <a:ext cx="420624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43800" y="2651760"/>
            <a:ext cx="39319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dominios de negocio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(university, billing, crm)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06640" y="342900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F1F3F5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06640" y="3566160"/>
            <a:ext cx="420624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43800" y="4251960"/>
            <a:ext cx="39319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tablas de origen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06640" y="502920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F1F3F5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06640" y="5166360"/>
            <a:ext cx="420624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446,708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543800" y="5852160"/>
            <a:ext cx="39319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filas de negocio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procesadas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57D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Comprensión del problema de negocio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institución que ofrece cursos y factura suscripciones — vista desde tres sistemas distintos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86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Estudiantes, cursos,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inscripciones y notas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53128" y="210312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4453128" y="2286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36008" y="278892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Clientes, productos,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facturas y pagos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57032" y="210312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8257032" y="2286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439912" y="278892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Cuentas, contactos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oportunidades de venta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solidFill>
            <a:srgbClr val="F1F3F5"/>
          </a:solidFill>
          <a:ln/>
        </p:spPr>
        <p:txBody>
          <a:bodyPr wrap="square" lIns="152400" tIns="152400" rIns="152400" bIns="1524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 clave: se investigó si los tres sistemas comparten personas (cruce por email y por nombre). El resultado — con doble verificación — confirma que son poblaciones de negocio independientes, sin ID compartido entre dominios.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57D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388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la solución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6C757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(origen)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40280" y="2103120"/>
            <a:ext cx="228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3557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68880" y="210312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264653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210312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(Parquet)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60520" y="2103120"/>
            <a:ext cx="228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3557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89120" y="210312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210312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(Parquet)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80760" y="2103120"/>
            <a:ext cx="228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3557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09360" y="210312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10312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(Postgres)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01000" y="2103120"/>
            <a:ext cx="228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3557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0" y="210312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E76F5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210312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(Star Schema)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921240" y="2103120"/>
            <a:ext cx="228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3557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149840" y="210312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E9C46A"/>
          </a:solidFill>
          <a:ln/>
        </p:spPr>
      </p:sp>
      <p:sp>
        <p:nvSpPr>
          <p:cNvPr id="20" name="Text 18"/>
          <p:cNvSpPr/>
          <p:nvPr/>
        </p:nvSpPr>
        <p:spPr>
          <a:xfrm>
            <a:off x="10149840" y="210312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749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Airflow orquesta el pipeline completo: ingesta → Silver → staging → 3 ramas paralelas por dominio (dimensiones → hechos → KPIs). Las ramas corren en paralelo porque los tres dominios son independientes entre sí.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1F3F5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4846320"/>
            <a:ext cx="356616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13/13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85800" y="5532120"/>
            <a:ext cx="32918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tareas del DAG ejecutadas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éxito (3 ramas en paralelo)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97680" y="47091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1F3F5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297680" y="4846320"/>
            <a:ext cx="356616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18/18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4434840" y="5532120"/>
            <a:ext cx="32918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tablas reconciliadas sin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discrepancias (raw→bronze→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silver→staging→gold)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46720" y="47091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1F3F5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046720" y="4846320"/>
            <a:ext cx="356616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468,988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8183880" y="5532120"/>
            <a:ext cx="32918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filas exportadas a Parquet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capa Gold final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57D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utilizadas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44805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Herramienta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¿Para qué?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¿Por qué se eligió?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3557"/>
                          </a:solidFill>
                        </a:rPr>
                        <a:t>Docker Compose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3557"/>
                          </a:solidFill>
                        </a:rPr>
                        <a:t>Levantar Postgres, Airflow y Jupyter de forma reproducible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3557"/>
                          </a:solidFill>
                        </a:rPr>
                        <a:t>Un solo comando reconstruye todo el ambiente sin instalación manual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3557"/>
                          </a:solidFill>
                        </a:rPr>
                        <a:t>Python (pandas)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3557"/>
                          </a:solidFill>
                        </a:rPr>
                        <a:t>Ingesta y limpieza en Bronze/Silver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3557"/>
                          </a:solidFill>
                        </a:rPr>
                        <a:t>Flexibilidad para reglas de negocio caso por caso, sin curva de aprendizaje adicional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3557"/>
                          </a:solidFill>
                        </a:rPr>
                        <a:t>Apache Parquet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3557"/>
                          </a:solidFill>
                        </a:rPr>
                        <a:t>Formato de Bronze y Silver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3557"/>
                          </a:solidFill>
                        </a:rPr>
                        <a:t>Formato columnar pensado para grandes volúmenes; practica el patrón usado en producción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3557"/>
                          </a:solidFill>
                        </a:rPr>
                        <a:t>PostgreSQL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3557"/>
                          </a:solidFill>
                        </a:rPr>
                        <a:t>Persistencia de la capa Gold (Star Schema)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3557"/>
                          </a:solidFill>
                        </a:rPr>
                        <a:t>Modelo relacional maduro, ideal para consultas analíticas con SQL estándar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3557"/>
                          </a:solidFill>
                        </a:rPr>
                        <a:t>Apache Airflow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3557"/>
                          </a:solidFill>
                        </a:rPr>
                        <a:t>Orquestación del pipeline completo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3557"/>
                          </a:solidFill>
                        </a:rPr>
                        <a:t>Dependencias explícitas y paralelismo entre dominios independientes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3557"/>
                          </a:solidFill>
                        </a:rPr>
                        <a:t>Jupyter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3557"/>
                          </a:solidFill>
                        </a:rPr>
                        <a:t>Discovery, validación y análisis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3557"/>
                          </a:solidFill>
                        </a:rPr>
                        <a:t>Iteración rápida con datos reales antes de fijar reglas de negocio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3557"/>
                          </a:solidFill>
                        </a:rPr>
                        <a:t>Git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3557"/>
                          </a:solidFill>
                        </a:rPr>
                        <a:t>Control de versiones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3557"/>
                          </a:solidFill>
                        </a:rPr>
                        <a:t>Trazabilidad del proceso de trabajo — parte de lo evaluado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3557"/>
                          </a:solidFill>
                        </a:rPr>
                        <a:t>Apache Spark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3557"/>
                          </a:solidFill>
                        </a:rPr>
                        <a:t>Evaluado para Silver — no implementado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3557"/>
                          </a:solidFill>
                        </a:rPr>
                        <a:t>El volumen del dataset no lo justifica técnicamente; documentado como paso de escalamiento futuro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57D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datos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Star Schemas </a:t>
            </a:r>
            <a:r>
              <a:rPr lang="en-US" sz="1500" dirty="0" err="1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independientes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 que university, billing y crm son poblaciones de negocio sin relación entre sí (confirmado con evidencia — ver slide anterior), el modelo Gold se construyó como 3 estrellas dimensionales separadas, con dim_date como única dimensión compartida (calendario, no entidad de negocio).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3291840" cy="2834640"/>
          </a:xfrm>
          <a:prstGeom prst="roundRect">
            <a:avLst>
              <a:gd name="adj" fmla="val 2581"/>
            </a:avLst>
          </a:prstGeom>
          <a:solidFill>
            <a:srgbClr val="F1F3F5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108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5661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557"/>
                </a:solidFill>
              </a:rPr>
              <a:t>Hechos: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8404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3557"/>
                </a:solidFill>
              </a:rPr>
              <a:t>fact_enrollments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D3557"/>
                </a:solidFill>
              </a:rPr>
              <a:t>fact_grades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46177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557"/>
                </a:solidFill>
              </a:rPr>
              <a:t>Dimensiones: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48920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3557"/>
                </a:solidFill>
              </a:rPr>
              <a:t>dim_student, dim_course,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D3557"/>
                </a:solidFill>
              </a:rPr>
              <a:t>dim_professor, dim_semester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53128" y="2971800"/>
            <a:ext cx="3291840" cy="2834640"/>
          </a:xfrm>
          <a:prstGeom prst="roundRect">
            <a:avLst>
              <a:gd name="adj" fmla="val 2581"/>
            </a:avLst>
          </a:prstGeom>
          <a:solidFill>
            <a:srgbClr val="F1F3F5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53128" y="3108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81728" y="35661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557"/>
                </a:solidFill>
              </a:rPr>
              <a:t>Hechos: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81728" y="38404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3557"/>
                </a:solidFill>
              </a:rPr>
              <a:t>fact_invoices, fact_payments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D3557"/>
                </a:solidFill>
              </a:rPr>
              <a:t>fact_invoice_items, fact_subscriptions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81728" y="46177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557"/>
                </a:solidFill>
              </a:rPr>
              <a:t>Dimensiones: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81728" y="48920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3557"/>
                </a:solidFill>
              </a:rPr>
              <a:t>dim_customer, dim_product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57032" y="2971800"/>
            <a:ext cx="3291840" cy="2834640"/>
          </a:xfrm>
          <a:prstGeom prst="roundRect">
            <a:avLst>
              <a:gd name="adj" fmla="val 2581"/>
            </a:avLst>
          </a:prstGeom>
          <a:solidFill>
            <a:srgbClr val="F1F3F5"/>
          </a:solidFill>
          <a:ln w="25400">
            <a:solidFill>
              <a:srgbClr val="E76F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3108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85632" y="35661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557"/>
                </a:solidFill>
              </a:rPr>
              <a:t>Hechos: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85632" y="38404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3557"/>
                </a:solidFill>
              </a:rPr>
              <a:t>fact_opportunities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D3557"/>
                </a:solidFill>
              </a:rPr>
              <a:t>fact_activities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85632" y="46177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557"/>
                </a:solidFill>
              </a:rPr>
              <a:t>Dimensiones: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85632" y="48920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3557"/>
                </a:solidFill>
              </a:rPr>
              <a:t>dim_account, dim_contact,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D3557"/>
                </a:solidFill>
              </a:rPr>
              <a:t>dim_lead (sin hechos)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57D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 de calidad de datos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 en 3 niveles, de más simple a más compleja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783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3557"/>
                </a:solidFill>
              </a:rPr>
              <a:t>Formato y tipo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21488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</a:rPr>
              <a:t>Nulos, duplicados, cardinalidad, formatos de fecha/monto por columna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697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3557"/>
                </a:solidFill>
              </a:rPr>
              <a:t>Llaves huérfanas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30632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</a:rPr>
              <a:t>Filas hijas cuya FK no existe en la tabla padre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611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3557"/>
                </a:solidFill>
              </a:rPr>
              <a:t>Reglas de negocio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977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</a:rPr>
              <a:t>Consistencia lógica entre columnas de una misma fila (ej. fechas que deben respetar un orden causal)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828800"/>
            <a:ext cx="6766560" cy="914400"/>
          </a:xfrm>
          <a:prstGeom prst="rect">
            <a:avLst/>
          </a:prstGeom>
          <a:solidFill>
            <a:srgbClr val="F1F3F5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Lección clave del proceso: un % muy alto de "violaciones" en una regla de negocio suele significar que el supuesto estaba mal planteado, no que el dato esté sucio.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880360"/>
          <a:ext cx="6766560" cy="2127504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Regla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% afectado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Decisión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Fechas de suscripción invertidas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5.2%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Error real — se marca, no se borra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Edad implausible al inscribirse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12.7%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Error real — se marca, no se borra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close_date anterior a created_at (oportunidades)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34.3%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Regla mal planteada — no es error de dato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graded_at anterior a enrolled_at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48.7%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Regla mal planteada — no es error de dato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57D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e Insights — University &amp; Billing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737360"/>
          <a:ext cx="539496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6217920" y="1737360"/>
          <a:ext cx="539496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43434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1F3F5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457200" y="4480560"/>
            <a:ext cx="2606040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48.6%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594360" y="5276088"/>
            <a:ext cx="2331720" cy="54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rate — más de la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mitad de lo facturado no se cobra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3200400" y="43434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1F3F5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3200400" y="4480560"/>
            <a:ext cx="2606040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14.95%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3337560" y="5276088"/>
            <a:ext cx="2331720" cy="54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real (status='cancelled',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corregido tras hallazgo)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217920" y="43434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1F3F5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217920" y="4480560"/>
            <a:ext cx="2606040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12.7%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6355080" y="5276088"/>
            <a:ext cx="2331720" cy="54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estudiantes con edad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implausible registrada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961120" y="43434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1F3F5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961120" y="4480560"/>
            <a:ext cx="2606040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22.6 días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9098280" y="5276088"/>
            <a:ext cx="2331720" cy="54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promedio para pagar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factura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57D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e Insights — CRM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73736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6217920" y="1737360"/>
          <a:ext cx="53949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489204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1F3F5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457200" y="5029200"/>
            <a:ext cx="35661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577.7 días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594360" y="5660136"/>
            <a:ext cx="32918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duración del ciclo de venta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(65.7% de oportunidades incluidas)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297680" y="489204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1F3F5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4297680" y="5029200"/>
            <a:ext cx="35661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~3.4-3.6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4434840" y="5660136"/>
            <a:ext cx="32918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actividades por oportunidad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IGUAL en won y en lost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138160" y="489204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F1F3F5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8138160" y="5029200"/>
            <a:ext cx="33832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34.3%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8275320" y="5660136"/>
            <a:ext cx="31089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oportunidades con close_date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anterior a created_at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57D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y demostración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Visualización interactiva de los KPIs de Gold</a:t>
            </a:r>
            <a:endParaRPr lang="en-US" sz="1500" dirty="0"/>
          </a:p>
        </p:txBody>
      </p:sp>
      <p:pic>
        <p:nvPicPr>
          <p:cNvPr id="4" name="Image 0" descr="/home/claude/pptx_build/dashboard_kp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11064240" cy="1143000"/>
          </a:xfrm>
          <a:prstGeom prst="rect">
            <a:avLst/>
          </a:prstGeom>
        </p:spPr>
      </p:pic>
      <p:pic>
        <p:nvPicPr>
          <p:cNvPr id="5" name="Image 1" descr="/home/claude/pptx_build/dashboard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00400"/>
            <a:ext cx="4416552" cy="32918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43600" y="3200400"/>
            <a:ext cx="56692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 elegida: HTML + Plotly.js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usó Power BI por no contar con licencia/instalación en el ambiente de </a:t>
            </a:r>
            <a:r>
              <a:rPr lang="en-US" sz="1400" dirty="0" err="1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r>
              <a:rPr lang="en-US" sz="14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qué: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 solo archivo .html, sin servidor ni instalación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Funciona sin conexión a internet (Plotly incrustado)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Gráficos realmente interactivos (zoom, hover con valores exactos)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Generado automáticamente desde gold.vw_* (src/build_dashboard.py)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57D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Retos encontrados y cómo se resolvieron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4480560"/>
        </p:xfrm>
        <a:graphic>
          <a:graphicData uri="http://schemas.openxmlformats.org/drawingml/2006/table">
            <a:tbl>
              <a:tblPr/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Reto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Cómo se resolvió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Migración de arquitectura a mitad de proyecto (Bronze/Silver de Postgres a Parquet)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Se reescribieron los scripts de ingesta/transformación sin perder el trabajo de discovery ya hecho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Bug de tipado: credits y year llegaron a Gold como texto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Detectado por el rechazo de Postgres al insertar; corregido en Silver con cast explícito a numérico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KPI de churn imposible (100%)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Investigado cruzando status vs. end_date; redefinido como status='cancelled' → 14.95% real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Reglas de negocio con % de "violación" muy altos (34%-49%)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Se identificó que la regla asumida estaba mal planteada, no el dato — se documentó en vez de descartar filas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CREATE OR REPLACE VIEW no permite renombrar columnas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Se usó DROP VIEW explícito antes de recrear la vista corregida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57D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y propuestas de mejora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9D8F"/>
                </a:solidFill>
              </a:rPr>
              <a:t>Conclusiones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5303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3557"/>
                </a:solidFill>
              </a:rPr>
              <a:t>Pipeline completo y automatizado, validado con reconciliación 18/18 </a:t>
            </a:r>
            <a:r>
              <a:rPr lang="en-US" sz="1300" dirty="0" err="1">
                <a:solidFill>
                  <a:srgbClr val="1D3557"/>
                </a:solidFill>
              </a:rPr>
              <a:t>tablas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3557"/>
                </a:solidFill>
              </a:rPr>
              <a:t>3 dominios de negocio confirmados como independientes, con evidencia doble (email + </a:t>
            </a:r>
            <a:r>
              <a:rPr lang="en-US" sz="1300" dirty="0" err="1">
                <a:solidFill>
                  <a:srgbClr val="1D3557"/>
                </a:solidFill>
              </a:rPr>
              <a:t>nombre</a:t>
            </a:r>
            <a:r>
              <a:rPr lang="en-US" sz="1300" dirty="0">
                <a:solidFill>
                  <a:srgbClr val="1D3557"/>
                </a:solidFill>
              </a:rPr>
              <a:t>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3557"/>
                </a:solidFill>
              </a:rPr>
              <a:t>Todos los hallazgos de calidad quedaron documentados, no </a:t>
            </a:r>
            <a:r>
              <a:rPr lang="en-US" sz="1300" dirty="0" err="1">
                <a:solidFill>
                  <a:srgbClr val="1D3557"/>
                </a:solidFill>
              </a:rPr>
              <a:t>ocultados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3557"/>
                </a:solidFill>
              </a:rPr>
              <a:t>KPIs corregidos con evidencia cuando el número no tenía sentido de negocio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6F51"/>
                </a:solidFill>
              </a:rPr>
              <a:t>Propuestas de mejora futura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09360" y="2148840"/>
            <a:ext cx="5303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3557"/>
                </a:solidFill>
              </a:rPr>
              <a:t>Implementar Apache Spark en Silver como paso de </a:t>
            </a:r>
            <a:r>
              <a:rPr lang="en-US" sz="1300" dirty="0" err="1">
                <a:solidFill>
                  <a:srgbClr val="1D3557"/>
                </a:solidFill>
              </a:rPr>
              <a:t>escalamiento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3557"/>
                </a:solidFill>
              </a:rPr>
              <a:t>Mover credenciales a .env, agregar </a:t>
            </a:r>
            <a:r>
              <a:rPr lang="en-US" sz="1300" dirty="0" err="1">
                <a:solidFill>
                  <a:srgbClr val="1D3557"/>
                </a:solidFill>
              </a:rPr>
              <a:t>healthchecks</a:t>
            </a:r>
            <a:r>
              <a:rPr lang="en-US" sz="1300" dirty="0">
                <a:solidFill>
                  <a:srgbClr val="1D3557"/>
                </a:solidFill>
              </a:rPr>
              <a:t> </a:t>
            </a:r>
            <a:r>
              <a:rPr lang="en-US" sz="1300" dirty="0" err="1">
                <a:solidFill>
                  <a:srgbClr val="1D3557"/>
                </a:solidFill>
              </a:rPr>
              <a:t>completos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3557"/>
                </a:solidFill>
              </a:rPr>
              <a:t>Investigar por qué el ciclo de venta del CRM es tan largo (577.7 días)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3557"/>
                </a:solidFill>
              </a:rPr>
              <a:t>Explorar unificación de identidad de persona entre sistemas como oportunidad de negocio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57D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de tipado corregido en Silver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transform_silver.py — detectado al fallar la carga a Gold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</a:rPr>
              <a:t>ANTES (bug)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14213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12848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clean_courses(df):
    return base_clean(
        df, text_cols=["code", "name"],
        dedup_key=["course_id"]
    )
</a:t>
            </a:r>
            <a:r>
              <a:rPr lang="en-US" sz="1250" i="1" dirty="0">
                <a:solidFill>
                  <a:srgbClr val="E76F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credits nunca se castea a número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309360" y="17373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</a:rPr>
              <a:t>DESPUÉS (corregido)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2103120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14213D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212848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clean_courses(df):
    df = base_clean(
        df, text_cols=["code", "name"],
        dedup_key=["course_id"]
    )
</a:t>
            </a:r>
            <a:r>
              <a:rPr lang="en-US" sz="125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df["credits"] = pd.to_numeric(
        df["credits"], errors="coerce"
    ).astype("Int64")
</a:t>
            </a:r>
            <a:r>
              <a:rPr lang="en-US" sz="1250" dirty="0">
                <a:solidFill>
                  <a:srgbClr val="F1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df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2976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rechazó el INSERT por incompatibilidad de tipos (columna INTEGER, valor texto) -- el error se detectó en Gold, no en Silver, lo que confirmó la importancia de validar cada capa por separado.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57D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Fragmento</a:t>
            </a:r>
            <a:r>
              <a:rPr lang="en-US" sz="30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 Star Schema (Gold)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sql/gold/university/01_dimensions.sql — patrón de llave subrogada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4114800"/>
          </a:xfrm>
          <a:prstGeom prst="roundRect">
            <a:avLst>
              <a:gd name="adj" fmla="val 1333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105156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gold.dim_student (
</a:t>
            </a:r>
            <a:r>
              <a:rPr lang="en-US" sz="1300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sk_student      SERIAL PRIMARY KEY,</a:t>
            </a:r>
            <a:r>
              <a:rPr lang="en-US" sz="1300" i="1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-- llave subrogada
</a:t>
            </a:r>
            <a:r>
              <a:rPr lang="en-US" sz="1300" dirty="0">
                <a:solidFill>
                  <a:srgbClr val="F1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student_id      TEXT UNIQUE NOT NULL,</a:t>
            </a:r>
            <a:r>
              <a:rPr lang="en-US" sz="1300" i="1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 llave natural
</a:t>
            </a:r>
            <a:r>
              <a:rPr lang="en-US" sz="1300" dirty="0">
                <a:solidFill>
                  <a:srgbClr val="F1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full_name       TEXT,
    email           TEXT,
    birth_date      DATE,
    country         TEXT,
    age_at_enroll   NUMERIC,
</a:t>
            </a:r>
            <a:r>
              <a:rPr lang="en-US" sz="130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valid_age       BOOLEAN</a:t>
            </a:r>
            <a:r>
              <a:rPr lang="en-US" sz="1300" i="1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 bandera de calidad, no se filtra aquí
</a:t>
            </a:r>
            <a:r>
              <a:rPr lang="en-US" sz="1300" dirty="0">
                <a:solidFill>
                  <a:srgbClr val="F1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
INSERT INTO gold.dim_student (student_id, full_name, ...)
SELECT student_id, first_name || ' ' || last_name, ...
FROM staging.university_students
</a:t>
            </a:r>
            <a:r>
              <a:rPr lang="en-US" sz="13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CONFLICT (student_id) DO NOTHING;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57D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Predictivo (extra)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¿Se puede predecir si una oportunidad se gana o se pierde?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Regresión logística sobre monto, industria, país, tamaño de cuenta y cantidad de actividades — sin fuga de datos (close_date excluida a propósito).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1F3F5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560320"/>
            <a:ext cx="356616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61.5%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3246120"/>
            <a:ext cx="32918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del modelo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(baseline ingenuo: 61.1%)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24231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1F3F5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97680" y="2560320"/>
            <a:ext cx="356616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+0.4 pp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34840" y="3246120"/>
            <a:ext cx="32918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sobre el baseline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 no significativa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24231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1F3F5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0" y="2560320"/>
            <a:ext cx="356616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0.476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83880" y="3246120"/>
            <a:ext cx="32918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AUC-ROC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(0.5 = azar, 1.0 = perfecto)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11064240" cy="2194560"/>
          </a:xfrm>
          <a:prstGeom prst="roundRect">
            <a:avLst>
              <a:gd name="adj" fmla="val 3333"/>
            </a:avLst>
          </a:prstGeom>
          <a:solidFill>
            <a:srgbClr val="F1F3F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1480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el modelo NO tiene poder predictivo real con estas variables.
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coeficiente de activity_count (-0.10) fue pequeño, confirmando de forma estadística el hallazgo de discovery: la cantidad de actividades no predice el resultado.
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Conclusión de negocio: ninguna variable disponible en el CRM actual explica por qué se gana o se pierde una oportunidad -- sugiere que el CRM no captura los factores reales de decisión (vendedor asignado, competencia, tomadores de decisión involucrados). 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57D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1814</Words>
  <Application>Microsoft Office PowerPoint</Application>
  <PresentationFormat>Panorámica</PresentationFormat>
  <Paragraphs>248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Rodrigo David De Achá Beltrán</cp:lastModifiedBy>
  <cp:revision>2</cp:revision>
  <dcterms:created xsi:type="dcterms:W3CDTF">2026-07-22T03:07:37Z</dcterms:created>
  <dcterms:modified xsi:type="dcterms:W3CDTF">2026-07-22T03:18:12Z</dcterms:modified>
</cp:coreProperties>
</file>